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– Ausrichten (~0:00–0:03). Begrüssen, kurz persönlich abholen: Wer hätte gern eine eigene Website? Thema und Dauer (20–25 Min.) nennen, betonen: heute geht es ums selbst Ausprobieren. Noch nichts erklären.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– Ausrichten. Die 3 Lernziele transparent machen – das ist das Ziel für heute. Nach Mager beobachtbar formuliert. Kurz halten (~30 Sek.), nicht vorlesen, sondern in eigenen Worten.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– Ausrichten. Ablauf zeigen, damit alle Orientierung haben. Betonen, dass der Schwerpunkt auf dem eigenen Tun liegt (Verarbeiten, 8 Min.). Gesamtrahmen 23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 – Reaktivieren (~0:03–0:06). An Vorerfahrung anknüpfen: per Handzeichen fragen, wer schon mal eine KI (z. B. ChatGPT) gefragt hat. Brücke bauen: KI schreibt nicht nur Texte, sondern baut ganze Websites. Dialogisch und aktivierend halten. (Die Phasen-Cues auf der Folie sind bewusst sichtbar – im SVEB-Rahmen ok.)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– Informieren (~0:06–0:11). Kurzer, adressatengerechter Input – keine Fachbegriffe. Die 4 Punkte nennen. Danach eine kurze Live-Mini-Demo: ein Beispiel-Prompt → Website erscheint. Stoffreduktion: kein Code, kein Deployment, keine Konto-Details.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– Informieren. Kernbotschaft hervorheben: Ein guter Auftrag = ein gutes Ergebnis. Konkretes Beispiel geben: «freundlich, kurze Texte» wirkt besser als nur «schön». Überleitung zum Baukasten.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→ V. Die 3 Schritte zeigen und den Baukasten vorstellen. Link/QR teilen (am Beamer und im Handout). Einmal vormachen, dann übernehmen die Teilnehmenden selbst.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 – Verarbeiten (~0:11–0:19). Aktivste Phase, ca. 8 Min. Teilnehmende öffnen den Baukasten (QR/Link), bauen einen eigenen Prompt; 1–2 Freiwillige zeigen ihr Resultat live am Beamer. Herumgehen, Hilfestellung geben. Plan B bei knapper Zeit: nur ein Live-Beispiel.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– Auswerten (~0:19–0:23). Lernzielkontrolle: Teilnehmende nennen die 3 Schritte und je zwei Einsatzmöglichkeiten (kurze Murmelrunde). Fragemöglichkeit geben. ~4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– Auswerten / Abschluss. Teilnehmende zeigen sich gegenseitig ihre Ergebnisse und posten ihren Vorschau-/Veröffentlichungs-Link in den WhatsApp-Gruppenchat. Danken und zum Weiterprobieren ermutigen.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EA5E9"/>
                </a:solidFill>
                <a:latin typeface="Trebuchet MS"/>
              </a:rPr>
              <a:t>SVEB · MINILEKTION (MICRO-TEACHING)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6070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800" b="1" i="0">
                <a:solidFill>
                  <a:srgbClr val="FFFFFF"/>
                </a:solidFill>
                <a:latin typeface="Trebuchet MS"/>
              </a:rPr>
              <a:t>Meine eigene Website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800" b="1" i="0">
                <a:solidFill>
                  <a:srgbClr val="FFFFFF"/>
                </a:solidFill>
                <a:latin typeface="Trebuchet MS"/>
              </a:rPr>
              <a:t>mit </a:t>
            </a:r>
            <a:r>
              <a:rPr sz="4800" b="1" i="0">
                <a:solidFill>
                  <a:srgbClr val="0EA5E9"/>
                </a:solidFill>
                <a:latin typeface="Trebuchet MS"/>
              </a:rPr>
              <a:t>Google AI Studio</a:t>
            </a:r>
            <a:r>
              <a:rPr sz="4800" b="1" i="0">
                <a:solidFill>
                  <a:srgbClr val="FFFFFF"/>
                </a:solidFill>
                <a:latin typeface="Trebuchet MS"/>
              </a:rPr>
              <a:t> erstellen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0" i="0">
                <a:solidFill>
                  <a:srgbClr val="CBD5E1"/>
                </a:solidFill>
                <a:latin typeface="Calibri"/>
              </a:rPr>
              <a:t>Ohne Programmieren – in normaler Sprache beschreiben, die KI baut die Website.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5120640"/>
            <a:ext cx="2468880" cy="59436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120640"/>
            <a:ext cx="24688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20–25 Minuten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5120640"/>
            <a:ext cx="3017520" cy="59436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5120640"/>
            <a:ext cx="30175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Absolute Einsteiger:innen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64748B"/>
                </a:solidFill>
                <a:latin typeface="Calibri"/>
              </a:rPr>
              <a:t>Name: ____________________      Datum: 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4F46E5"/>
                </a:solidFill>
                <a:latin typeface="Trebuchet MS"/>
              </a:rPr>
              <a:t>LERNZIELE · NACH R. F. MAGER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F172A"/>
                </a:solidFill>
                <a:latin typeface="Trebuchet MS"/>
              </a:rPr>
              <a:t>Was ihr nach der Lektion könnt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105156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" y="2313432"/>
            <a:ext cx="640080" cy="64008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295144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212848"/>
            <a:ext cx="9052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 i="0">
                <a:solidFill>
                  <a:srgbClr val="4F46E5"/>
                </a:solidFill>
                <a:latin typeface="Trebuchet MS"/>
              </a:rPr>
              <a:t>Erklären, was Google AI Studio ist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Mindestens zwei Einsatzmöglichkeiten benennen können.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474720"/>
            <a:ext cx="105156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3776472"/>
            <a:ext cx="640080" cy="64008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58184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675888"/>
            <a:ext cx="9052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 i="0">
                <a:solidFill>
                  <a:srgbClr val="4F46E5"/>
                </a:solidFill>
                <a:latin typeface="Trebuchet MS"/>
              </a:rPr>
              <a:t>Einen Website-Auftrag (Prompt) bauen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Mit dem Baukasten einen klaren Auftrag zum eigenen Thema zusammenstellen.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937760"/>
            <a:ext cx="105156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5239512"/>
            <a:ext cx="640080" cy="64008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221224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5138928"/>
            <a:ext cx="9052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 i="0">
                <a:solidFill>
                  <a:srgbClr val="4F46E5"/>
                </a:solidFill>
                <a:latin typeface="Trebuchet MS"/>
              </a:rPr>
              <a:t>Eine erste Website erzeugen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Den Prompt in Google AI Studio einfügen und die Live-Vorschau sehen.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4F46E5"/>
                </a:solidFill>
                <a:latin typeface="Trebuchet MS"/>
              </a:rPr>
              <a:t>ABLAUF · MODELL ARIVA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F172A"/>
                </a:solidFill>
                <a:latin typeface="Trebuchet MS"/>
              </a:rPr>
              <a:t>So läuft die Lektion ab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1993392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08176" y="2468880"/>
            <a:ext cx="822960" cy="82296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08176" y="2450592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Trebuchet MS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74720"/>
            <a:ext cx="1810512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Trebuchet MS"/>
              </a:rPr>
              <a:t>Ausrichten</a:t>
            </a:r>
          </a:p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4F46E5"/>
                </a:solidFill>
                <a:latin typeface="Calibri"/>
              </a:rPr>
              <a:t>3 Min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Begrüssung, Ziele &amp; Ablauf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99232" y="2148840"/>
            <a:ext cx="1993392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584448" y="2468880"/>
            <a:ext cx="822960" cy="8229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84448" y="2450592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Trebuchet MS"/>
              </a:rPr>
              <a:t>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0672" y="3474720"/>
            <a:ext cx="1810512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Trebuchet MS"/>
              </a:rPr>
              <a:t>Reaktivieren</a:t>
            </a:r>
          </a:p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7C3AED"/>
                </a:solidFill>
                <a:latin typeface="Calibri"/>
              </a:rPr>
              <a:t>3 Min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An KI-Erfahrung anknüpfen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75504" y="2148840"/>
            <a:ext cx="1993392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760720" y="2468880"/>
            <a:ext cx="822960" cy="82296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0" y="2450592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Trebuchet MS"/>
              </a:rPr>
              <a:t>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6944" y="3474720"/>
            <a:ext cx="1810512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Trebuchet MS"/>
              </a:rPr>
              <a:t>Informieren</a:t>
            </a:r>
          </a:p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0EA5E9"/>
                </a:solidFill>
                <a:latin typeface="Calibri"/>
              </a:rPr>
              <a:t>5 Min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Was ist AI Studio + Demo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51776" y="2148840"/>
            <a:ext cx="1993392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936992" y="2468880"/>
            <a:ext cx="822960" cy="82296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2450592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Trebuchet MS"/>
              </a:rPr>
              <a:t>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43216" y="3474720"/>
            <a:ext cx="1810512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Trebuchet MS"/>
              </a:rPr>
              <a:t>Verarbeiten</a:t>
            </a:r>
          </a:p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4F46E5"/>
                </a:solidFill>
                <a:latin typeface="Calibri"/>
              </a:rPr>
              <a:t>8 Min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Selbst einen Prompt bauen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28048" y="2148840"/>
            <a:ext cx="1993392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113264" y="2468880"/>
            <a:ext cx="822960" cy="8229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13264" y="2450592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Trebuchet MS"/>
              </a:rPr>
              <a:t>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19488" y="3474720"/>
            <a:ext cx="1810512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Trebuchet MS"/>
              </a:rPr>
              <a:t>Auswerten</a:t>
            </a:r>
          </a:p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7C3AED"/>
                </a:solidFill>
                <a:latin typeface="Calibri"/>
              </a:rPr>
              <a:t>4 Min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Zusammenfassen &amp; prüfen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715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1">
                <a:solidFill>
                  <a:srgbClr val="64748B"/>
                </a:solidFill>
                <a:latin typeface="Calibri"/>
              </a:rPr>
              <a:t>Gesamt: 23 Minuten  ·  Schwerpunkt liegt auf dem eigenen Ausprobieren (Verarbeiten).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7DD3FC"/>
                </a:solidFill>
                <a:latin typeface="Trebuchet MS"/>
              </a:rPr>
              <a:t>EINSTIEG &amp; REAKTIVIEREN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4300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300" b="1" i="0">
                <a:solidFill>
                  <a:srgbClr val="FFFFFF"/>
                </a:solidFill>
                <a:latin typeface="Trebuchet MS"/>
              </a:rPr>
              <a:t>„Wer hätte gern eine </a:t>
            </a:r>
            <a:r>
              <a:rPr sz="3300" b="1" i="0">
                <a:solidFill>
                  <a:srgbClr val="0EA5E9"/>
                </a:solidFill>
                <a:latin typeface="Trebuchet MS"/>
              </a:rPr>
              <a:t>eigene Website</a:t>
            </a:r>
            <a:r>
              <a:rPr sz="3300" b="1" i="0">
                <a:solidFill>
                  <a:srgbClr val="FFFFFF"/>
                </a:solidFill>
                <a:latin typeface="Trebuchet MS"/>
              </a:rPr>
              <a:t> –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300" b="1" i="0">
                <a:solidFill>
                  <a:srgbClr val="FFFFFF"/>
                </a:solidFill>
                <a:latin typeface="Trebuchet MS"/>
              </a:rPr>
              <a:t>und wen hat bisher der Aufwand abgeschreckt?“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383280"/>
            <a:ext cx="10515600" cy="23774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3657600"/>
            <a:ext cx="978408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0EA5E9"/>
                </a:solidFill>
                <a:latin typeface="Trebuchet MS"/>
              </a:rPr>
              <a:t>Kurz überlegt:</a:t>
            </a:r>
          </a:p>
          <a:p>
            <a:pPr algn="l">
              <a:spcAft>
                <a:spcPts val="7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Wer hat schon einmal eine KI wie ChatGPT etwas gefragt?</a:t>
            </a:r>
          </a:p>
          <a:p>
            <a:pPr algn="l">
              <a:spcAft>
                <a:spcPts val="7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KI kann nicht nur Texte schreiben …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… sondern ganze </a:t>
            </a:r>
            <a:r>
              <a:rPr sz="1800" b="1" i="0">
                <a:solidFill>
                  <a:srgbClr val="0EA5E9"/>
                </a:solidFill>
                <a:latin typeface="Calibri"/>
              </a:rPr>
              <a:t>Websites bauen.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4F46E5"/>
                </a:solidFill>
                <a:latin typeface="Trebuchet MS"/>
              </a:rPr>
              <a:t>INFORMIEREN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F172A"/>
                </a:solidFill>
                <a:latin typeface="Trebuchet MS"/>
              </a:rPr>
              <a:t>Was ist Google AI Studio?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10515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" y="2194560"/>
            <a:ext cx="548640" cy="54864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176272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157984"/>
            <a:ext cx="9326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0F172A"/>
                </a:solidFill>
                <a:latin typeface="Trebuchet MS"/>
              </a:rPr>
              <a:t>Kostenloses Web-Tool von Google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64748B"/>
                </a:solidFill>
                <a:latin typeface="Calibri"/>
              </a:rPr>
              <a:t>„Build“-Modus auf aistudio.google.com/apps – nichts installieren.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081528"/>
            <a:ext cx="10515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24128" y="3264408"/>
            <a:ext cx="548640" cy="54864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24612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227832"/>
            <a:ext cx="9326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0F172A"/>
                </a:solidFill>
                <a:latin typeface="Trebuchet MS"/>
              </a:rPr>
              <a:t>Beschreiben statt programmieren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64748B"/>
                </a:solidFill>
                <a:latin typeface="Calibri"/>
              </a:rPr>
              <a:t>Du sagst in normaler Sprache, was du willst – die KI baut die Website.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151376"/>
            <a:ext cx="10515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24128" y="4334256"/>
            <a:ext cx="548640" cy="54864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43159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297680"/>
            <a:ext cx="9326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0F172A"/>
                </a:solidFill>
                <a:latin typeface="Trebuchet MS"/>
              </a:rPr>
              <a:t>Sofort sichtbar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64748B"/>
                </a:solidFill>
                <a:latin typeface="Calibri"/>
              </a:rPr>
              <a:t>Rechts erscheint live eine Vorschau deiner Website.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221224"/>
            <a:ext cx="10515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" y="5404104"/>
            <a:ext cx="548640" cy="54864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4128" y="538581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rebuchet M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367528"/>
            <a:ext cx="9326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0F172A"/>
                </a:solidFill>
                <a:latin typeface="Trebuchet MS"/>
              </a:rPr>
              <a:t>Einfach anpassen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64748B"/>
                </a:solidFill>
                <a:latin typeface="Calibri"/>
              </a:rPr>
              <a:t>Änderungswunsch als nächste Nachricht: „Mach die Kopfzeile grösser.“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400"/>
              </a:spcAft>
            </a:pPr>
            <a:r>
              <a:rPr sz="1800" b="1" i="0">
                <a:solidFill>
                  <a:srgbClr val="C7D2FE"/>
                </a:solidFill>
                <a:latin typeface="Trebuchet MS"/>
              </a:rPr>
              <a:t>Das Wichtigste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4000" b="1" i="0">
                <a:solidFill>
                  <a:srgbClr val="FFFFFF"/>
                </a:solidFill>
                <a:latin typeface="Trebuchet MS"/>
              </a:rPr>
              <a:t>Ein guter Auftrag  =  ein gutes Ergebnis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468880" y="4297680"/>
            <a:ext cx="7223760" cy="914400"/>
          </a:xfrm>
          <a:prstGeom prst="roundRect">
            <a:avLst>
              <a:gd name="adj" fmla="val 8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651760" y="4297680"/>
            <a:ext cx="68580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Je konkreter du beschreibst, desto besser wird die Website.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4F46E5"/>
                </a:solidFill>
                <a:latin typeface="Trebuchet MS"/>
              </a:rPr>
              <a:t>DER WEG ZUR WEBSITE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7772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F172A"/>
                </a:solidFill>
                <a:latin typeface="Trebuchet MS"/>
              </a:rPr>
              <a:t>In nur 3 Schritten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7498079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" y="2240279"/>
            <a:ext cx="594360" cy="59436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221991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2148840"/>
            <a:ext cx="62179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0F172A"/>
                </a:solidFill>
                <a:latin typeface="Trebuchet MS"/>
              </a:rPr>
              <a:t>Baukasten ausfüllen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64748B"/>
                </a:solidFill>
                <a:latin typeface="Calibri"/>
              </a:rPr>
              <a:t>Fragen beantworten (Art, Zweck, Inhalte, Stil) – der Prompt entsteht automatisch.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291839"/>
            <a:ext cx="7498079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3566159"/>
            <a:ext cx="594360" cy="59436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547871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3474720"/>
            <a:ext cx="62179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0F172A"/>
                </a:solidFill>
                <a:latin typeface="Trebuchet MS"/>
              </a:rPr>
              <a:t>Prompt kopieren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64748B"/>
                </a:solidFill>
                <a:latin typeface="Calibri"/>
              </a:rPr>
              <a:t>Ein Klick auf „Prompt kopieren“.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617720"/>
            <a:ext cx="7498079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4892040"/>
            <a:ext cx="594360" cy="59436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873752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4800600"/>
            <a:ext cx="62179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0F172A"/>
                </a:solidFill>
                <a:latin typeface="Trebuchet MS"/>
              </a:rPr>
              <a:t>In AI Studio einfügen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64748B"/>
                </a:solidFill>
                <a:latin typeface="Calibri"/>
              </a:rPr>
              <a:t>Einfügen, abschicken – die Website-Vorschau erscheint.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65960"/>
            <a:ext cx="2697480" cy="3749039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1080" y="2240280"/>
            <a:ext cx="2697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rebuchet MS"/>
              </a:rPr>
              <a:t>Direkt scannen</a:t>
            </a:r>
          </a:p>
        </p:txBody>
      </p:sp>
      <p:pic>
        <p:nvPicPr>
          <p:cNvPr id="19" name="Picture 18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2743200"/>
            <a:ext cx="1417320" cy="141732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9235440" y="2743200"/>
            <a:ext cx="1508760" cy="1508760"/>
          </a:xfrm>
          <a:prstGeom prst="rect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2520" y="4434840"/>
            <a:ext cx="2514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0EA5E9"/>
                </a:solidFill>
                <a:latin typeface="Calibri"/>
              </a:rPr>
              <a:t>criseone.github.io/</a:t>
            </a:r>
          </a:p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0EA5E9"/>
                </a:solidFill>
                <a:latin typeface="Calibri"/>
              </a:rPr>
              <a:t>meine-website-ai-studio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3152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FFFFFF"/>
                </a:solidFill>
                <a:latin typeface="Trebuchet MS"/>
              </a:rPr>
              <a:t>Jetzt seid ihr dran!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EA5E9"/>
                </a:solidFill>
                <a:latin typeface="Calibri"/>
              </a:rPr>
              <a:t>Verarbeiten · ca. 8 Minuten · Einzeln oder zu zweit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56032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1.  Öffnet den Baukasten (Link/QR rechts).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2.  Füllt ihn für eure eigene Idee aus.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3.  Kopiert euren Prompt.</a:t>
            </a:r>
          </a:p>
          <a:p>
            <a:pPr algn="l">
              <a:spcAft>
                <a:spcPts val="2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4.  1–2 Freiwillige zeigen ihre Website live.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2286000"/>
            <a:ext cx="3383280" cy="3383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79" y="251460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0F172A"/>
                </a:solidFill>
                <a:latin typeface="Trebuchet MS"/>
              </a:rPr>
              <a:t>Hier starten</a:t>
            </a:r>
          </a:p>
        </p:txBody>
      </p:sp>
      <p:pic>
        <p:nvPicPr>
          <p:cNvPr id="9" name="Picture 8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3017520"/>
            <a:ext cx="1828800" cy="1828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01000" y="502920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4F46E5"/>
                </a:solidFill>
                <a:latin typeface="Calibri"/>
              </a:rPr>
              <a:t>criseone.github.io/meine-website-ai-studio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4F46E5"/>
                </a:solidFill>
                <a:latin typeface="Trebuchet MS"/>
              </a:rPr>
              <a:t>AUSWERTEN &amp; ZUSAMMENFASSUNG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F172A"/>
                </a:solidFill>
                <a:latin typeface="Trebuchet MS"/>
              </a:rPr>
              <a:t>Was bleibt hängen?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507492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286000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4F46E5"/>
                </a:solidFill>
                <a:latin typeface="Trebuchet MS"/>
              </a:rPr>
              <a:t>Die 3 Schritte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926080"/>
            <a:ext cx="4526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0F172A"/>
                </a:solidFill>
                <a:latin typeface="Calibri"/>
              </a:rPr>
              <a:t>1.  Baukasten ausfüllen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0F172A"/>
                </a:solidFill>
                <a:latin typeface="Calibri"/>
              </a:rPr>
              <a:t>2.  Prompt kopieren</a:t>
            </a:r>
          </a:p>
          <a:p>
            <a:pPr algn="l">
              <a:spcAft>
                <a:spcPts val="200"/>
              </a:spcAft>
            </a:pPr>
            <a:r>
              <a:rPr sz="1700" b="0" i="0">
                <a:solidFill>
                  <a:srgbClr val="0F172A"/>
                </a:solidFill>
                <a:latin typeface="Calibri"/>
              </a:rPr>
              <a:t>3.  In AI Studio einfügen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011680"/>
            <a:ext cx="5074920" cy="34747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7C3AED"/>
                </a:solidFill>
                <a:latin typeface="Trebuchet MS"/>
              </a:rPr>
              <a:t>Lernzielkontrolle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926080"/>
            <a:ext cx="4526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0F172A"/>
                </a:solidFill>
                <a:latin typeface="Calibri"/>
              </a:rPr>
              <a:t>• Was ist Google AI Studio?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0F172A"/>
                </a:solidFill>
                <a:latin typeface="Calibri"/>
              </a:rPr>
              <a:t>• Nenne 2 Dinge, die man damit machen kann.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0F172A"/>
                </a:solidFill>
                <a:latin typeface="Calibri"/>
              </a:rPr>
              <a:t>• Wofür würdest DU eine Website bauen?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1">
                <a:solidFill>
                  <a:srgbClr val="64748B"/>
                </a:solidFill>
                <a:latin typeface="Calibri"/>
              </a:rPr>
              <a:t>Fragen? — und dann: einfach selbst weiter ausprobieren.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FFFFFF"/>
                </a:solidFill>
                <a:latin typeface="Trebuchet MS"/>
              </a:rPr>
              <a:t>Geschafft – und jetzt?</a:t>
            </a:r>
          </a:p>
          <a:p>
            <a:pPr algn="l">
              <a:spcAft>
                <a:spcPts val="200"/>
              </a:spcAft>
            </a:pPr>
            <a:r>
              <a:rPr sz="1900" b="0" i="0">
                <a:solidFill>
                  <a:srgbClr val="CBD5E1"/>
                </a:solidFill>
                <a:latin typeface="Calibri"/>
              </a:rPr>
              <a:t>Eure eigene Website ist nur einen Prompt entfernt.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5074920" cy="24688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3000" y="3063240"/>
            <a:ext cx="640080" cy="6400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3044952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931920"/>
            <a:ext cx="4526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Trebuchet MS"/>
              </a:rPr>
              <a:t>Zeigt euch eure Ergebnisse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50" b="0" i="0">
                <a:solidFill>
                  <a:srgbClr val="CBD5E1"/>
                </a:solidFill>
                <a:latin typeface="Calibri"/>
              </a:rPr>
              <a:t>Geht kurz herum und schaut euch gegenseitig eure Websites an – holt euch Ideen.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743200"/>
            <a:ext cx="5074920" cy="24688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83680" y="3063240"/>
            <a:ext cx="640080" cy="6400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3044952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931920"/>
            <a:ext cx="4526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Trebuchet MS"/>
              </a:rPr>
              <a:t>Teilt euren Link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50" b="0" i="0">
                <a:solidFill>
                  <a:srgbClr val="CBD5E1"/>
                </a:solidFill>
                <a:latin typeface="Calibri"/>
              </a:rPr>
              <a:t>Postet euren Vorschau-/Veröffentlichungs-Link in den WhatsApp-Gruppenchat.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6235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0" i="1">
                <a:solidFill>
                  <a:srgbClr val="94A3B8"/>
                </a:solidFill>
                <a:latin typeface="Calibri"/>
              </a:rPr>
              <a:t>Danke fürs Mitmachen – und viel Spass beim Weiterbauen!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