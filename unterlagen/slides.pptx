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– Ausrichten (0:00–0:03). Begrüssen, kurz persönlich abholen: Wer hätte gern eine eigene Website? Thema und Dauer nennen, betonen: heute geht es ums selbst Ausprobieren.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– Ausrichten. Die drei Lernziele in eigenen Worten nennen (nach Mager, beobachtbar). Kurz 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– Ausrichten. Ablauf zeigen, Orientierung geben. Schwerpunkt: Verarbeiten (8 Min.). Gesamt 23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– Reaktivieren (0:03–0:06). Per Handzeichen fragen, wer schon eine KI genutzt hat. Brücke bauen: KI baut ganze Websites. Dialogisch, aktivierend.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– Informieren (0:06–0:11). Kurzer, einfacher Input – keine Fachbegriffe. Die vier Punkte nennen, dann kurze Live-Demo. Stoffreduktion: kein Code, kein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– Informieren. Kernbotschaft betonen. Beispiel: «freundlich, kurze Texte» statt nur «schön». Überleitung zum Baukasten.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→ V. Drei Schritte zeigen, Link/QR teilen, einmal vormachen. Dann übernehmen die Teilnehmenden.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– Verarbeiten (0:11–0:19). Aktivste Phase (~8 Min.). Herumgehen, Hilfestellung geben. Plan B bei knapper Zeit: nur ein Live-Beispiel.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– Auswerten (0:19–0:23). Lernzielkontrolle: drei Schritte und zwei Bau-Beispiele nennen lassen (Murmelrunde). Fragen zulassen.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– Abschluss. Teilnehmende zeigen sich ihre Ergebnisse und posten den Link in den WhatsApp-Gruppenchat. Danken, zum Weiterprobieren ermutigen.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3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A1A1AA"/>
                </a:solidFill>
                <a:latin typeface="Arial"/>
              </a:rPr>
              <a:t>SVEB · MINILEKTION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Meine eigene Website mit 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Google AI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A1A1AA"/>
                </a:solidFill>
                <a:latin typeface="Arial"/>
              </a:rPr>
              <a:t>Ohne Programmieren – beschreiben, die KI baut.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5074920"/>
            <a:ext cx="10469879" cy="0"/>
          </a:xfrm>
          <a:prstGeom prst="line">
            <a:avLst/>
          </a:prstGeom>
          <a:ln w="12700">
            <a:solidFill>
              <a:srgbClr val="3F3F46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868680" y="530352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A1A1AA"/>
                </a:solidFill>
                <a:latin typeface="Arial"/>
              </a:rPr>
              <a:t>20–25 Min.      Absolute Einsteiger:innen      Name / Datum: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Arial"/>
              </a:rPr>
              <a:t>LERNZIELE · NACH MAGER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 i="0">
                <a:solidFill>
                  <a:srgbClr val="121316"/>
                </a:solidFill>
                <a:latin typeface="Arial"/>
              </a:rPr>
              <a:t>Was ihr danach könnt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46888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868680" y="2761488"/>
            <a:ext cx="548640" cy="54864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3405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21316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2491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21316"/>
                </a:solidFill>
                <a:latin typeface="Arial"/>
              </a:rPr>
              <a:t>Erklären, was Google AI Studio ist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1717A"/>
                </a:solidFill>
                <a:latin typeface="Arial"/>
              </a:rPr>
              <a:t>Zwei Beispiele nennen, was man damit bauen kann.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749039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868680" y="4041648"/>
            <a:ext cx="548640" cy="54864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14215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2131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00507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21316"/>
                </a:solidFill>
                <a:latin typeface="Arial"/>
              </a:rPr>
              <a:t>Einen Website-Auftrag bauen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1717A"/>
                </a:solidFill>
                <a:latin typeface="Arial"/>
              </a:rPr>
              <a:t>Mit dem Baukasten einen klaren Prompt zusammenstellen.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502920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868680" y="5321808"/>
            <a:ext cx="548640" cy="54864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29437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21316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8523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121316"/>
                </a:solidFill>
                <a:latin typeface="Arial"/>
              </a:rPr>
              <a:t>Eine erste Website erzeugen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71717A"/>
                </a:solidFill>
                <a:latin typeface="Arial"/>
              </a:rPr>
              <a:t>Prompt in AI Studio einfügen, Vorschau sehen.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630936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Arial"/>
              </a:rPr>
              <a:t>ABLAUF · ARIVA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 i="0">
                <a:solidFill>
                  <a:srgbClr val="121316"/>
                </a:solidFill>
                <a:latin typeface="Arial"/>
              </a:rPr>
              <a:t>So läuft die Lektion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33172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978407" y="26517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21316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3520439"/>
            <a:ext cx="187451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121316"/>
                </a:solidFill>
                <a:latin typeface="Arial"/>
              </a:rPr>
              <a:t>Ausrichten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1717A"/>
                </a:solidFill>
                <a:latin typeface="Arial"/>
              </a:rPr>
              <a:t>3′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71717A"/>
                </a:solidFill>
                <a:latin typeface="Arial"/>
              </a:rPr>
              <a:t>Ziele &amp; Ablauf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62656" y="2514600"/>
            <a:ext cx="0" cy="274320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072384" y="26517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21316"/>
                </a:solidFill>
                <a:latin typeface="Arial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3520439"/>
            <a:ext cx="187451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121316"/>
                </a:solidFill>
                <a:latin typeface="Arial"/>
              </a:rPr>
              <a:t>Reaktivieren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1717A"/>
                </a:solidFill>
                <a:latin typeface="Arial"/>
              </a:rPr>
              <a:t>3′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71717A"/>
                </a:solidFill>
                <a:latin typeface="Arial"/>
              </a:rPr>
              <a:t>An KI anknüpfen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56632" y="2514600"/>
            <a:ext cx="0" cy="274320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166360" y="26517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21316"/>
                </a:solidFill>
                <a:latin typeface="Arial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520439"/>
            <a:ext cx="187451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121316"/>
                </a:solidFill>
                <a:latin typeface="Arial"/>
              </a:rPr>
              <a:t>Informieren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1717A"/>
                </a:solidFill>
                <a:latin typeface="Arial"/>
              </a:rPr>
              <a:t>5′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71717A"/>
                </a:solidFill>
                <a:latin typeface="Arial"/>
              </a:rPr>
              <a:t>AI Studio + Demo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50608" y="2514600"/>
            <a:ext cx="0" cy="274320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260336" y="26517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21316"/>
                </a:solidFill>
                <a:latin typeface="Arial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3520439"/>
            <a:ext cx="187451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121316"/>
                </a:solidFill>
                <a:latin typeface="Arial"/>
              </a:rPr>
              <a:t>Verarbeiten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1717A"/>
                </a:solidFill>
                <a:latin typeface="Arial"/>
              </a:rPr>
              <a:t>8′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71717A"/>
                </a:solidFill>
                <a:latin typeface="Arial"/>
              </a:rPr>
              <a:t>Selbst bauen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44584" y="2514600"/>
            <a:ext cx="0" cy="274320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9354311" y="2651760"/>
            <a:ext cx="18745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121316"/>
                </a:solidFill>
                <a:latin typeface="Arial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1" y="3520439"/>
            <a:ext cx="187451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 i="0">
                <a:solidFill>
                  <a:srgbClr val="121316"/>
                </a:solidFill>
                <a:latin typeface="Arial"/>
              </a:rPr>
              <a:t>Auswerten</a:t>
            </a:r>
          </a:p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71717A"/>
                </a:solidFill>
                <a:latin typeface="Arial"/>
              </a:rPr>
              <a:t>4′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71717A"/>
                </a:solidFill>
                <a:latin typeface="Arial"/>
              </a:rPr>
              <a:t>Prüfen &amp; Abschluss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534924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868680" y="5532120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71717A"/>
                </a:solidFill>
                <a:latin typeface="Arial"/>
              </a:rPr>
              <a:t>Gesamt 23 Minuten — Schwerpunkt: selbst ausprobieren.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3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A1A1AA"/>
                </a:solidFill>
                <a:latin typeface="Arial"/>
              </a:rPr>
              <a:t>EINSTIEG &amp; REAKTIVIEREN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„Wer hätte gern eine </a:t>
            </a:r>
            <a:r>
              <a:rPr sz="3600" b="1" i="0">
                <a:solidFill>
                  <a:srgbClr val="FFFFFF"/>
                </a:solidFill>
                <a:latin typeface="Arial"/>
              </a:rPr>
              <a:t>eigene Website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– und wen schreckt der Aufwand ab?“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4114800"/>
            <a:ext cx="10469879" cy="0"/>
          </a:xfrm>
          <a:prstGeom prst="line">
            <a:avLst/>
          </a:prstGeom>
          <a:ln w="12700">
            <a:solidFill>
              <a:srgbClr val="3F3F46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868680" y="443484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E7E7EA"/>
                </a:solidFill>
                <a:latin typeface="Arial"/>
              </a:rPr>
              <a:t>Wer hat schon einmal eine KI (z. B. ChatGPT) gefragt?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E7E7EA"/>
                </a:solidFill>
                <a:latin typeface="Arial"/>
              </a:rPr>
              <a:t>KI schreibt nicht nur Texte – sie baut ganze </a:t>
            </a:r>
            <a:r>
              <a:rPr sz="1900" b="1" i="0">
                <a:solidFill>
                  <a:srgbClr val="FFFFFF"/>
                </a:solidFill>
                <a:latin typeface="Arial"/>
              </a:rPr>
              <a:t>Websites.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Arial"/>
              </a:rPr>
              <a:t>INFORMIEREN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 i="0">
                <a:solidFill>
                  <a:srgbClr val="121316"/>
                </a:solidFill>
                <a:latin typeface="Arial"/>
              </a:rPr>
              <a:t>Was ist Google AI Studio?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33172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868680" y="2551176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237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7802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1316"/>
                </a:solidFill>
                <a:latin typeface="Arial"/>
              </a:rPr>
              <a:t>Kostenloses Web-Tool von Google  </a:t>
            </a:r>
            <a:r>
              <a:rPr sz="1400" b="0" i="0">
                <a:solidFill>
                  <a:srgbClr val="71717A"/>
                </a:solidFill>
                <a:latin typeface="Arial"/>
              </a:rPr>
              <a:t>Build-Modus auf aistudio.google.com/apps – nichts installieren.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264408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868680" y="3483863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5643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0712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1316"/>
                </a:solidFill>
                <a:latin typeface="Arial"/>
              </a:rPr>
              <a:t>Beschreiben statt programmieren  </a:t>
            </a:r>
            <a:r>
              <a:rPr sz="1400" b="0" i="0">
                <a:solidFill>
                  <a:srgbClr val="71717A"/>
                </a:solidFill>
                <a:latin typeface="Arial"/>
              </a:rPr>
              <a:t>In normaler Sprache sagen, was du willst.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197096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868680" y="4416552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3434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1316"/>
                </a:solidFill>
                <a:latin typeface="Arial"/>
              </a:rPr>
              <a:t>Sofort sichtbar  </a:t>
            </a:r>
            <a:r>
              <a:rPr sz="1400" b="0" i="0">
                <a:solidFill>
                  <a:srgbClr val="71717A"/>
                </a:solidFill>
                <a:latin typeface="Arial"/>
              </a:rPr>
              <a:t>Die Vorschau erscheint live.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5129783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8" name="Oval 17"/>
          <p:cNvSpPr/>
          <p:nvPr/>
        </p:nvSpPr>
        <p:spPr>
          <a:xfrm>
            <a:off x="868680" y="5349240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321807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276088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21316"/>
                </a:solidFill>
                <a:latin typeface="Arial"/>
              </a:rPr>
              <a:t>Einfach anpassen  </a:t>
            </a:r>
            <a:r>
              <a:rPr sz="1400" b="0" i="0">
                <a:solidFill>
                  <a:srgbClr val="71717A"/>
                </a:solidFill>
                <a:latin typeface="Arial"/>
              </a:rPr>
              <a:t>Änderung als nächste Nachricht schreiben.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6062471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Arial"/>
              </a:rPr>
              <a:t>DAS WICHTIGSTE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469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5000" b="1" i="0">
                <a:solidFill>
                  <a:srgbClr val="121316"/>
                </a:solidFill>
                <a:latin typeface="Arial"/>
              </a:rPr>
              <a:t>Ein guter Auftrag =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469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2563EB"/>
                </a:solidFill>
                <a:latin typeface="Arial"/>
              </a:rPr>
              <a:t>ein gutes Ergebnis.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10469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71717A"/>
                </a:solidFill>
                <a:latin typeface="Arial"/>
              </a:rPr>
              <a:t>Je konkreter du beschreibst, desto besser wird die Website.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Arial"/>
              </a:rPr>
              <a:t>DER WEG ZUR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 i="0">
                <a:solidFill>
                  <a:srgbClr val="121316"/>
                </a:solidFill>
                <a:latin typeface="Arial"/>
              </a:rPr>
              <a:t>In drei Schritten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468880"/>
            <a:ext cx="6766560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868680" y="2706624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7919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5176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21316"/>
                </a:solidFill>
                <a:latin typeface="Arial"/>
              </a:rPr>
              <a:t>Baukasten ausfüllen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71717A"/>
                </a:solidFill>
                <a:latin typeface="Arial"/>
              </a:rPr>
              <a:t>Fragen beantworten – der Prompt entsteht.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520440"/>
            <a:ext cx="6766560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868680" y="3758184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307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70332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21316"/>
                </a:solidFill>
                <a:latin typeface="Arial"/>
              </a:rPr>
              <a:t>Prompt kopieren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71717A"/>
                </a:solidFill>
                <a:latin typeface="Arial"/>
              </a:rPr>
              <a:t>Ein Klick.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572000"/>
            <a:ext cx="6766560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868680" y="4809744"/>
            <a:ext cx="502920" cy="502920"/>
          </a:xfrm>
          <a:prstGeom prst="ellipse">
            <a:avLst/>
          </a:prstGeom>
          <a:noFill/>
          <a:ln w="16510">
            <a:solidFill>
              <a:srgbClr val="1213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21316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754880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21316"/>
                </a:solidFill>
                <a:latin typeface="Arial"/>
              </a:rPr>
              <a:t>In AI Studio einfügen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71717A"/>
                </a:solidFill>
                <a:latin typeface="Arial"/>
              </a:rPr>
              <a:t>Einfügen, abschicken, Vorschau.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5623560"/>
            <a:ext cx="6766560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8732520" y="2468880"/>
            <a:ext cx="2606040" cy="3246120"/>
          </a:xfrm>
          <a:prstGeom prst="rect">
            <a:avLst/>
          </a:prstGeom>
          <a:noFill/>
          <a:ln w="12700">
            <a:solidFill>
              <a:srgbClr val="E4E4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6974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71717A"/>
                </a:solidFill>
                <a:latin typeface="Arial"/>
              </a:rPr>
              <a:t>SCANNEN</a:t>
            </a:r>
          </a:p>
        </p:txBody>
      </p:sp>
      <p:pic>
        <p:nvPicPr>
          <p:cNvPr id="20" name="Picture 19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88" y="3108960"/>
            <a:ext cx="1280160" cy="1280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23960" y="461772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criseone.github.io/</a:t>
            </a:r>
          </a:p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Arial"/>
              </a:rPr>
              <a:t>meine-website-ai-studio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3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A1A1AA"/>
                </a:solidFill>
                <a:latin typeface="Arial"/>
              </a:rPr>
              <a:t>VERARBEITEN · CA. 8 MIN · EINZELN ODER ZU ZWEIT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Jetzt seid ihr dran.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noFill/>
          <a:ln w="16510">
            <a:solidFill>
              <a:srgbClr val="A1A1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7157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761488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E7E7EA"/>
                </a:solidFill>
                <a:latin typeface="Arial"/>
              </a:rPr>
              <a:t>Baukasten öffnen (QR rechts).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noFill/>
          <a:ln w="16510">
            <a:solidFill>
              <a:srgbClr val="A1A1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655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11296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E7E7EA"/>
                </a:solidFill>
                <a:latin typeface="Arial"/>
              </a:rPr>
              <a:t>Für die eigene Idee ausfüllen.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noFill/>
          <a:ln w="16510">
            <a:solidFill>
              <a:srgbClr val="A1A1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153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61103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E7E7EA"/>
                </a:solidFill>
                <a:latin typeface="Arial"/>
              </a:rPr>
              <a:t>Prompt kopieren.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noFill/>
          <a:ln w="16510">
            <a:solidFill>
              <a:srgbClr val="A1A1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651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010912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E7E7EA"/>
                </a:solidFill>
                <a:latin typeface="Arial"/>
              </a:rPr>
              <a:t>1–2 zeigen ihre Website live.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468880"/>
            <a:ext cx="29718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880360"/>
            <a:ext cx="1508760" cy="1508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0" y="461772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21316"/>
                </a:solidFill>
                <a:latin typeface="Arial"/>
              </a:rPr>
              <a:t>criseone.github.io/</a:t>
            </a:r>
          </a:p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121316"/>
                </a:solidFill>
                <a:latin typeface="Arial"/>
              </a:rPr>
              <a:t>meine-website-ai-studio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71717A"/>
                </a:solidFill>
                <a:latin typeface="Arial"/>
              </a:rPr>
              <a:t>AUSWERTEN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300" b="1" i="0">
                <a:solidFill>
                  <a:srgbClr val="121316"/>
                </a:solidFill>
                <a:latin typeface="Arial"/>
              </a:rPr>
              <a:t>Was bleibt hängen?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0" y="2468880"/>
            <a:ext cx="0" cy="310896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86868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1717A"/>
                </a:solidFill>
                <a:latin typeface="Arial"/>
              </a:rPr>
              <a:t>Die drei Schritte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21316"/>
                </a:solidFill>
                <a:latin typeface="Arial"/>
              </a:rPr>
              <a:t>1   Baukasten ausfüllen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121316"/>
                </a:solidFill>
                <a:latin typeface="Arial"/>
              </a:rPr>
              <a:t>2   Prompt kopieren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21316"/>
                </a:solidFill>
                <a:latin typeface="Arial"/>
              </a:rPr>
              <a:t>3   In AI Studio einfügen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71717A"/>
                </a:solidFill>
                <a:latin typeface="Arial"/>
              </a:rPr>
              <a:t>Lernzielkontrolle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121316"/>
                </a:solidFill>
                <a:latin typeface="Arial"/>
              </a:rPr>
              <a:t>Was ist Google AI Studio?</a:t>
            </a: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121316"/>
                </a:solidFill>
                <a:latin typeface="Arial"/>
              </a:rPr>
              <a:t>Nenne zwei Dinge, die man damit bauen kann.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21316"/>
                </a:solidFill>
                <a:latin typeface="Arial"/>
              </a:rPr>
              <a:t>Wofür würdest DU eine Website bauen?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5760720"/>
            <a:ext cx="10469879" cy="0"/>
          </a:xfrm>
          <a:prstGeom prst="line">
            <a:avLst/>
          </a:prstGeom>
          <a:ln w="12700">
            <a:solidFill>
              <a:srgbClr val="E4E4E7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868680" y="5943600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71717A"/>
                </a:solidFill>
                <a:latin typeface="Arial"/>
              </a:rPr>
              <a:t>Fragen? Dann: selbst weiterprobieren.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3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Geschafft – und jetzt?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A1A1AA"/>
                </a:solidFill>
                <a:latin typeface="Arial"/>
              </a:rPr>
              <a:t>Eure Website ist nur einen Prompt entfernt.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3200400"/>
            <a:ext cx="10469879" cy="0"/>
          </a:xfrm>
          <a:prstGeom prst="line">
            <a:avLst/>
          </a:prstGeom>
          <a:ln w="12700">
            <a:solidFill>
              <a:srgbClr val="3F3F46"/>
            </a:solidFill>
          </a:ln>
          <a:effectLst/>
        </p:spPr>
      </p:cxnSp>
      <p:sp>
        <p:nvSpPr>
          <p:cNvPr id="5" name="Oval 4"/>
          <p:cNvSpPr/>
          <p:nvPr/>
        </p:nvSpPr>
        <p:spPr>
          <a:xfrm>
            <a:off x="868680" y="3474720"/>
            <a:ext cx="548640" cy="548640"/>
          </a:xfrm>
          <a:prstGeom prst="ellipse">
            <a:avLst/>
          </a:prstGeom>
          <a:noFill/>
          <a:ln w="16510">
            <a:solidFill>
              <a:srgbClr val="A1A1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447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438144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Zeigt euch eure Ergebnisse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1A1AA"/>
                </a:solidFill>
                <a:latin typeface="Arial"/>
              </a:rPr>
              <a:t>Kurz herumgehen, Ideen holen.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434840"/>
            <a:ext cx="10469879" cy="0"/>
          </a:xfrm>
          <a:prstGeom prst="line">
            <a:avLst/>
          </a:prstGeom>
          <a:ln w="12700">
            <a:solidFill>
              <a:srgbClr val="3F3F46"/>
            </a:solidFill>
          </a:ln>
          <a:effectLst/>
        </p:spPr>
      </p:cxnSp>
      <p:sp>
        <p:nvSpPr>
          <p:cNvPr id="9" name="Oval 8"/>
          <p:cNvSpPr/>
          <p:nvPr/>
        </p:nvSpPr>
        <p:spPr>
          <a:xfrm>
            <a:off x="868680" y="4709159"/>
            <a:ext cx="548640" cy="548640"/>
          </a:xfrm>
          <a:prstGeom prst="ellipse">
            <a:avLst/>
          </a:prstGeom>
          <a:noFill/>
          <a:ln w="16510">
            <a:solidFill>
              <a:srgbClr val="A1A1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81727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672583"/>
            <a:ext cx="9418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Teilt euren Link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1A1AA"/>
                </a:solidFill>
                <a:latin typeface="Arial"/>
              </a:rPr>
              <a:t>Vorschau-Link in den WhatsApp-Gruppenchat posten.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5669279"/>
            <a:ext cx="10469879" cy="0"/>
          </a:xfrm>
          <a:prstGeom prst="line">
            <a:avLst/>
          </a:prstGeom>
          <a:ln w="12700">
            <a:solidFill>
              <a:srgbClr val="3F3F46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868680" y="5897879"/>
            <a:ext cx="10469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1">
                <a:solidFill>
                  <a:srgbClr val="A1A1AA"/>
                </a:solidFill>
                <a:latin typeface="Arial"/>
              </a:rPr>
              <a:t>Danke fürs Mitmachen.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