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59" r:id="rId10"/>
    <p:sldId id="257" r:id="rId8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Ausrichten (0:00–0:03). Begrüssen, kurz persönlich abholen: Wer hätte gern eine eigene Website? Thema und Dauer nennen, betonen: heute geht es ums selbst Ausprobieren. Gleich zu Beginn live eine Website starten (vorbereiteter Prompt, „Go“ drücken) — sie baut im Hintergrund und wird am Schluss enthüllt (so ist die ganze Lektion die Wartezeit). Fuchs Communications im zweiten Tab als 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– Reaktivieren (0:03–0:06). Per Handzeichen fragen, wer schon eine KI genutzt hat. Brücke bauen: KI baut ganze Websites. Dialogisch, aktivierend.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Ausrichten. Ablauf zeigen, Orientierung geben. Schwerpunkt: Verarbeiten (8 Min.). Gesamt 23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Ausrichten. Die drei Lernziele in eigenen Worten nennen (nach Mager, beobachtbar). Kurz halten.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– Informieren (0:06–0:11). Kurzer, einfacher Input – keine Fachbegriffe. Die vier Punkte nennen, dann Demo mit einem vorab generierten Beispiel (die Generierung dauert mehrere Minuten – nicht live abwarten). Stoffreduktion: kein Code, kein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– Informieren. Kernbotschaft betonen. Beispiel: «freundlich, kurze Texte» statt nur «schön». Überleitung zum Baukasten.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→ V. Drei Schritte zeigen, Link/QR teilen, einmal vormachen. Ergebnis über ein vorab generiertes Beispiel zeigen. Dann übernehmen die Teilnehmenden.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 – Verarbeiten (0:11–0:19). Aktivste Phase (~8 Min.). Die Teilnehmenden bauen ihren Prompt und starten die Generierung – sie läuft mehrere Minuten weiter, also nicht abwarten. Herumgehen, Hilfestellung geben. Fertige Ergebnisse später im Gruppenchat teilen. Wartezeit für einen kurzen Austausch zur eigenen Idee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Auswerten (0:19–0:23). Zuerst die zu Beginn gestartete Website enthüllen (Aha-Moment). Dann Lernzielkontrolle: drei Schritte und zwei Bau-Beispiele nennen lassen (Murmelrunde). Fragen zulassen. Ergebnisse der TN später im Gruppenchat. Backup: Fuchs Communications zeigen, falls die Live-Website nicht fertig oder fehlerhaft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Abschluss. Teilnehmende zeigen sich ihre Ergebnisse und posten den Link in den WhatsApp-Gruppenchat. Danken, zum Weiterprobieren ermutigen.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31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515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A1A1AA"/>
                </a:solidFill>
                <a:latin typeface="Arial"/>
              </a:rPr>
              <a:t>SVEB · MINILEKTION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Meine eigene Website mit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Google AI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A1A1AA"/>
                </a:solidFill>
                <a:latin typeface="Arial"/>
              </a:rPr>
              <a:t>Wie baut man 2026 eine Website — oder eine App?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5074920"/>
            <a:ext cx="10469879" cy="0"/>
          </a:xfrm>
          <a:prstGeom prst="line">
            <a:avLst/>
          </a:prstGeom>
          <a:ln w="12700">
            <a:solidFill>
              <a:srgbClr val="3F3F46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868680" y="5303520"/>
            <a:ext cx="10469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A1A1AA"/>
                </a:solidFill>
                <a:latin typeface="Arial"/>
              </a:rPr>
              <a:t>20–25 Min.      Absolute Einsteiger:innen      Tim Fuchs · 05.09.2026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1717A"/>
                </a:solidFill>
                <a:latin typeface="Arial"/>
              </a:rPr>
              <a:t>ABLAUF · ARIVA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 i="0">
                <a:solidFill>
                  <a:srgbClr val="121316"/>
                </a:solidFill>
                <a:latin typeface="Arial"/>
              </a:rPr>
              <a:t>So läuft die Lektion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233172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978407" y="265176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121316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3520439"/>
            <a:ext cx="187451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121316"/>
                </a:solidFill>
                <a:latin typeface="Arial"/>
              </a:rPr>
              <a:t>Ausrichten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71717A"/>
                </a:solidFill>
                <a:latin typeface="Arial"/>
              </a:rPr>
              <a:t>3′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71717A"/>
                </a:solidFill>
                <a:latin typeface="Arial"/>
              </a:rPr>
              <a:t>Ziele &amp; Ablauf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62656" y="2514600"/>
            <a:ext cx="0" cy="274320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3072384" y="265176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121316"/>
                </a:solidFill>
                <a:latin typeface="Arial"/>
              </a:rPr>
              <a:t>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2384" y="3520439"/>
            <a:ext cx="187451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121316"/>
                </a:solidFill>
                <a:latin typeface="Arial"/>
              </a:rPr>
              <a:t>Reaktivieren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71717A"/>
                </a:solidFill>
                <a:latin typeface="Arial"/>
              </a:rPr>
              <a:t>3′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71717A"/>
                </a:solidFill>
                <a:latin typeface="Arial"/>
              </a:rPr>
              <a:t>An KI anknüpfen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56632" y="2514600"/>
            <a:ext cx="0" cy="274320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5166360" y="265176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121316"/>
                </a:solidFill>
                <a:latin typeface="Arial"/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3520439"/>
            <a:ext cx="187451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121316"/>
                </a:solidFill>
                <a:latin typeface="Arial"/>
              </a:rPr>
              <a:t>Informieren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71717A"/>
                </a:solidFill>
                <a:latin typeface="Arial"/>
              </a:rPr>
              <a:t>5′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71717A"/>
                </a:solidFill>
                <a:latin typeface="Arial"/>
              </a:rPr>
              <a:t>AI Studio + Demo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50608" y="2514600"/>
            <a:ext cx="0" cy="274320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7260336" y="265176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121316"/>
                </a:solidFill>
                <a:latin typeface="Arial"/>
              </a:rPr>
              <a:t>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0336" y="3520439"/>
            <a:ext cx="187451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121316"/>
                </a:solidFill>
                <a:latin typeface="Arial"/>
              </a:rPr>
              <a:t>Verarbeiten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71717A"/>
                </a:solidFill>
                <a:latin typeface="Arial"/>
              </a:rPr>
              <a:t>8′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71717A"/>
                </a:solidFill>
                <a:latin typeface="Arial"/>
              </a:rPr>
              <a:t>Selbst bauen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244584" y="2514600"/>
            <a:ext cx="0" cy="274320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9354311" y="265176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121316"/>
                </a:solidFill>
                <a:latin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4311" y="3520439"/>
            <a:ext cx="187451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121316"/>
                </a:solidFill>
                <a:latin typeface="Arial"/>
              </a:rPr>
              <a:t>Auswerten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71717A"/>
                </a:solidFill>
                <a:latin typeface="Arial"/>
              </a:rPr>
              <a:t>4′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71717A"/>
                </a:solidFill>
                <a:latin typeface="Arial"/>
              </a:rPr>
              <a:t>Prüfen &amp; Abschluss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8680" y="534924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868680" y="5532120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1">
                <a:solidFill>
                  <a:srgbClr val="71717A"/>
                </a:solidFill>
                <a:latin typeface="Arial"/>
              </a:rPr>
              <a:t>Gesamt 23 Minuten — Schwerpunkt: selbst ausprobieren.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1717A"/>
                </a:solidFill>
                <a:latin typeface="Arial"/>
              </a:rPr>
              <a:t>LERNZIELE · NACH MAGER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 i="0">
                <a:solidFill>
                  <a:srgbClr val="121316"/>
                </a:solidFill>
                <a:latin typeface="Arial"/>
              </a:rPr>
              <a:t>Was ihr danach könnt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246888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6" name="Oval 5"/>
          <p:cNvSpPr/>
          <p:nvPr/>
        </p:nvSpPr>
        <p:spPr>
          <a:xfrm>
            <a:off x="868680" y="2761488"/>
            <a:ext cx="548640" cy="54864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405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21316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724912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21316"/>
                </a:solidFill>
                <a:latin typeface="Arial"/>
              </a:rPr>
              <a:t>Erklären, was Google AI Studio ist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1717A"/>
                </a:solidFill>
                <a:latin typeface="Arial"/>
              </a:rPr>
              <a:t>Zwei Beispiele nennen, was man damit bauen kann.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3749039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0" name="Oval 9"/>
          <p:cNvSpPr/>
          <p:nvPr/>
        </p:nvSpPr>
        <p:spPr>
          <a:xfrm>
            <a:off x="868680" y="4041648"/>
            <a:ext cx="548640" cy="54864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1421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21316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4005072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21316"/>
                </a:solidFill>
                <a:latin typeface="Arial"/>
              </a:rPr>
              <a:t>Einen Website-Auftrag bauen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1717A"/>
                </a:solidFill>
                <a:latin typeface="Arial"/>
              </a:rPr>
              <a:t>Mit dem Baukasten einen klaren Prompt zusammenstellen.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8680" y="502920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4" name="Oval 13"/>
          <p:cNvSpPr/>
          <p:nvPr/>
        </p:nvSpPr>
        <p:spPr>
          <a:xfrm>
            <a:off x="868680" y="5321808"/>
            <a:ext cx="548640" cy="54864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943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21316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285232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21316"/>
                </a:solidFill>
                <a:latin typeface="Arial"/>
              </a:rPr>
              <a:t>Eine erste Website starten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1717A"/>
                </a:solidFill>
                <a:latin typeface="Arial"/>
              </a:rPr>
              <a:t>Prompt in AI Studio einfügen und losschicken.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8680" y="630936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31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A1A1AA"/>
                </a:solidFill>
                <a:latin typeface="Arial"/>
              </a:rPr>
              <a:t>REAKTIVIEREN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3500" b="1" i="0">
                <a:solidFill>
                  <a:srgbClr val="FFFFFF"/>
                </a:solidFill>
                <a:latin typeface="Arial"/>
              </a:rPr>
              <a:t>Hand hoch: Wer hat schon mal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3500" b="1" i="0">
                <a:solidFill>
                  <a:srgbClr val="FFFFFF"/>
                </a:solidFill>
                <a:latin typeface="Arial"/>
              </a:rPr>
              <a:t>eine KI etwas gefragt?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54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A1A1AA"/>
                </a:solidFill>
                <a:latin typeface="Arial"/>
              </a:rPr>
              <a:t>ChatGPT, Gemini und Co.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4069080"/>
            <a:ext cx="10469879" cy="0"/>
          </a:xfrm>
          <a:prstGeom prst="line">
            <a:avLst/>
          </a:prstGeom>
          <a:ln w="12700">
            <a:solidFill>
              <a:srgbClr val="3F3F46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868680" y="438912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Arial"/>
              </a:rPr>
              <a:t>KI schreibt nicht nur Texte — </a:t>
            </a:r>
            <a:r>
              <a:rPr sz="2700" b="1" i="0">
                <a:solidFill>
                  <a:srgbClr val="2563EB"/>
                </a:solidFill>
                <a:latin typeface="Arial"/>
              </a:rPr>
              <a:t>sie baut ganze Websites.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1717A"/>
                </a:solidFill>
                <a:latin typeface="Arial"/>
              </a:rPr>
              <a:t>INFORMIEREN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 i="0">
                <a:solidFill>
                  <a:srgbClr val="121316"/>
                </a:solidFill>
                <a:latin typeface="Arial"/>
              </a:rPr>
              <a:t>Was ist Google AI Studio?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233172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6" name="Oval 5"/>
          <p:cNvSpPr/>
          <p:nvPr/>
        </p:nvSpPr>
        <p:spPr>
          <a:xfrm>
            <a:off x="868680" y="2551176"/>
            <a:ext cx="502920" cy="50292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2374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21316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47802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21316"/>
                </a:solidFill>
                <a:latin typeface="Arial"/>
              </a:rPr>
              <a:t>Websites und kleine Apps bauen  </a:t>
            </a:r>
            <a:r>
              <a:rPr sz="1400" b="0" i="0">
                <a:solidFill>
                  <a:srgbClr val="71717A"/>
                </a:solidFill>
                <a:latin typeface="Arial"/>
              </a:rPr>
              <a:t>z. B. Portfolio, Vereinsseite, Quiz oder Rechner.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3264408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0" name="Oval 9"/>
          <p:cNvSpPr/>
          <p:nvPr/>
        </p:nvSpPr>
        <p:spPr>
          <a:xfrm>
            <a:off x="868680" y="3483863"/>
            <a:ext cx="502920" cy="50292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5643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21316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410712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21316"/>
                </a:solidFill>
                <a:latin typeface="Arial"/>
              </a:rPr>
              <a:t>Beschreiben statt programmieren  </a:t>
            </a:r>
            <a:r>
              <a:rPr sz="1400" b="0" i="0">
                <a:solidFill>
                  <a:srgbClr val="71717A"/>
                </a:solidFill>
                <a:latin typeface="Arial"/>
              </a:rPr>
              <a:t>In normaler Sprache sagen, was du willst.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8680" y="4197096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4" name="Oval 13"/>
          <p:cNvSpPr/>
          <p:nvPr/>
        </p:nvSpPr>
        <p:spPr>
          <a:xfrm>
            <a:off x="868680" y="4416552"/>
            <a:ext cx="502920" cy="50292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89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21316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343400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21316"/>
                </a:solidFill>
                <a:latin typeface="Arial"/>
              </a:rPr>
              <a:t>Kostenlos, direkt im Browser  </a:t>
            </a:r>
            <a:r>
              <a:rPr sz="1400" b="0" i="0">
                <a:solidFill>
                  <a:srgbClr val="71717A"/>
                </a:solidFill>
                <a:latin typeface="Arial"/>
              </a:rPr>
              <a:t>Build-Modus auf aistudio.google.com/apps – nichts installieren.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8680" y="5129783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8" name="Oval 17"/>
          <p:cNvSpPr/>
          <p:nvPr/>
        </p:nvSpPr>
        <p:spPr>
          <a:xfrm>
            <a:off x="868680" y="5349240"/>
            <a:ext cx="502920" cy="50292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21807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21316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276088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21316"/>
                </a:solidFill>
                <a:latin typeface="Arial"/>
              </a:rPr>
              <a:t>Anschauen und anpassen  </a:t>
            </a:r>
            <a:r>
              <a:rPr sz="1400" b="0" i="0">
                <a:solidFill>
                  <a:srgbClr val="71717A"/>
                </a:solidFill>
                <a:latin typeface="Arial"/>
              </a:rPr>
              <a:t>Vorschau im Browser; Änderungen als nächste Nachricht.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68680" y="6062471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371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1717A"/>
                </a:solidFill>
                <a:latin typeface="Arial"/>
              </a:rPr>
              <a:t>DAS WICHTIGSTE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468880"/>
            <a:ext cx="10469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5000" b="1" i="0">
                <a:solidFill>
                  <a:srgbClr val="121316"/>
                </a:solidFill>
                <a:latin typeface="Arial"/>
              </a:rPr>
              <a:t>Ein guter Auftrag =
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10469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5000" b="1" i="0">
                <a:solidFill>
                  <a:srgbClr val="2563EB"/>
                </a:solidFill>
                <a:latin typeface="Arial"/>
              </a:rPr>
              <a:t>ein gutes Ergebnis.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29200"/>
            <a:ext cx="10469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71717A"/>
                </a:solidFill>
                <a:latin typeface="Arial"/>
              </a:rPr>
              <a:t>Je konkreter du beschreibst, desto besser wird die Website.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1717A"/>
                </a:solidFill>
                <a:latin typeface="Arial"/>
              </a:rPr>
              <a:t>DER WEG ZUR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 i="0">
                <a:solidFill>
                  <a:srgbClr val="121316"/>
                </a:solidFill>
                <a:latin typeface="Arial"/>
              </a:rPr>
              <a:t>In drei Schritten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265176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6" name="Oval 5"/>
          <p:cNvSpPr/>
          <p:nvPr/>
        </p:nvSpPr>
        <p:spPr>
          <a:xfrm>
            <a:off x="868680" y="2926079"/>
            <a:ext cx="548640" cy="54864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89864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21316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871215"/>
            <a:ext cx="9418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21316"/>
                </a:solidFill>
                <a:latin typeface="Arial"/>
              </a:rPr>
              <a:t>Baukasten ausfüllen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1717A"/>
                </a:solidFill>
                <a:latin typeface="Arial"/>
              </a:rPr>
              <a:t>Fragen beantworten – der Prompt entsteht automatisch.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379476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0" name="Oval 9"/>
          <p:cNvSpPr/>
          <p:nvPr/>
        </p:nvSpPr>
        <p:spPr>
          <a:xfrm>
            <a:off x="868680" y="4069080"/>
            <a:ext cx="548640" cy="54864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4164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21316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4014216"/>
            <a:ext cx="9418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21316"/>
                </a:solidFill>
                <a:latin typeface="Arial"/>
              </a:rPr>
              <a:t>Prompt kopieren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1717A"/>
                </a:solidFill>
                <a:latin typeface="Arial"/>
              </a:rPr>
              <a:t>Ein Klick auf „Prompt kopieren“.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8680" y="493776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4" name="Oval 13"/>
          <p:cNvSpPr/>
          <p:nvPr/>
        </p:nvSpPr>
        <p:spPr>
          <a:xfrm>
            <a:off x="868680" y="5212080"/>
            <a:ext cx="548640" cy="54864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18464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21316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157216"/>
            <a:ext cx="9418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21316"/>
                </a:solidFill>
                <a:latin typeface="Arial"/>
              </a:rPr>
              <a:t>In AI Studio einfügen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1717A"/>
                </a:solidFill>
                <a:latin typeface="Arial"/>
              </a:rPr>
              <a:t>Einfügen, abschicken – die KI baut los (ein paar Minuten).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8680" y="608076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31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A1A1AA"/>
                </a:solidFill>
                <a:latin typeface="Arial"/>
              </a:rPr>
              <a:t>VERARBEITEN · CA. 8 MIN · EINZELN ODER ZU ZWEIT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71600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Jetzt seid ihr dran.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743200"/>
            <a:ext cx="457200" cy="457200"/>
          </a:xfrm>
          <a:prstGeom prst="ellipse">
            <a:avLst/>
          </a:prstGeom>
          <a:noFill/>
          <a:ln w="16510">
            <a:solidFill>
              <a:srgbClr val="A1A1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7157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761488"/>
            <a:ext cx="6035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E7E7EA"/>
                </a:solidFill>
                <a:latin typeface="Arial"/>
              </a:rPr>
              <a:t>Baukasten öffnen (QR rechts).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493008"/>
            <a:ext cx="457200" cy="457200"/>
          </a:xfrm>
          <a:prstGeom prst="ellipse">
            <a:avLst/>
          </a:prstGeom>
          <a:noFill/>
          <a:ln w="16510">
            <a:solidFill>
              <a:srgbClr val="A1A1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6557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511296"/>
            <a:ext cx="6035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E7E7EA"/>
                </a:solidFill>
                <a:latin typeface="Arial"/>
              </a:rPr>
              <a:t>Für die eigene Idee ausfüllen.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42816"/>
            <a:ext cx="457200" cy="457200"/>
          </a:xfrm>
          <a:prstGeom prst="ellipse">
            <a:avLst/>
          </a:prstGeom>
          <a:noFill/>
          <a:ln w="16510">
            <a:solidFill>
              <a:srgbClr val="A1A1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215383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261103"/>
            <a:ext cx="6035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E7E7EA"/>
                </a:solidFill>
                <a:latin typeface="Arial"/>
              </a:rPr>
              <a:t>Prompt kopieren.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992624"/>
            <a:ext cx="457200" cy="457200"/>
          </a:xfrm>
          <a:prstGeom prst="ellipse">
            <a:avLst/>
          </a:prstGeom>
          <a:noFill/>
          <a:ln w="16510">
            <a:solidFill>
              <a:srgbClr val="A1A1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65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010912"/>
            <a:ext cx="6035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E7E7EA"/>
                </a:solidFill>
                <a:latin typeface="Arial"/>
              </a:rPr>
              <a:t>In AI Studio einfügen und starten.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879592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0" i="1">
                <a:solidFill>
                  <a:srgbClr val="A1A1AA"/>
                </a:solidFill>
                <a:latin typeface="Arial"/>
              </a:rPr>
              <a:t>Starten — und während es baut, kurz austauschen. Den Link teilt ihr später im Gruppenchat.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2468880"/>
            <a:ext cx="29718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880360"/>
            <a:ext cx="1508760" cy="1508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412480" y="4617720"/>
            <a:ext cx="2880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21316"/>
                </a:solidFill>
                <a:latin typeface="Arial"/>
              </a:rPr>
              <a:t>tinyurl.com/website-baukasten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1717A"/>
                </a:solidFill>
                <a:latin typeface="Arial"/>
              </a:rPr>
              <a:t>AUSWERTEN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 i="0">
                <a:solidFill>
                  <a:srgbClr val="121316"/>
                </a:solidFill>
                <a:latin typeface="Arial"/>
              </a:rPr>
              <a:t>Was bleibt hängen?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35040" y="2468880"/>
            <a:ext cx="0" cy="310896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868680" y="23774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71717A"/>
                </a:solidFill>
                <a:latin typeface="Arial"/>
              </a:rPr>
              <a:t>Die drei Schritte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17520"/>
            <a:ext cx="4846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21316"/>
                </a:solidFill>
                <a:latin typeface="Arial"/>
              </a:rPr>
              <a:t>1   Baukasten ausfüllen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21316"/>
                </a:solidFill>
                <a:latin typeface="Arial"/>
              </a:rPr>
              <a:t>2   Prompt kopieren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21316"/>
                </a:solidFill>
                <a:latin typeface="Arial"/>
              </a:rPr>
              <a:t>3   In AI Studio einfügen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71717A"/>
                </a:solidFill>
                <a:latin typeface="Arial"/>
              </a:rPr>
              <a:t>Lernzielkontrolle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017520"/>
            <a:ext cx="4846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 i="0">
                <a:solidFill>
                  <a:srgbClr val="121316"/>
                </a:solidFill>
                <a:latin typeface="Arial"/>
              </a:rPr>
              <a:t>Was ist Google AI Studio?</a:t>
            </a:r>
          </a:p>
          <a:p>
            <a:pPr algn="l">
              <a:spcAft>
                <a:spcPts val="1100"/>
              </a:spcAft>
            </a:pPr>
            <a:r>
              <a:rPr sz="1600" b="0" i="0">
                <a:solidFill>
                  <a:srgbClr val="121316"/>
                </a:solidFill>
                <a:latin typeface="Arial"/>
              </a:rPr>
              <a:t>Nenne zwei Dinge, die man damit bauen kann.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121316"/>
                </a:solidFill>
                <a:latin typeface="Arial"/>
              </a:rPr>
              <a:t>Wofür würdest DU eine Website bauen?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8680" y="576072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868680" y="5943600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1">
                <a:solidFill>
                  <a:srgbClr val="71717A"/>
                </a:solidFill>
                <a:latin typeface="Arial"/>
              </a:rPr>
              <a:t>Fragen? Jetzt ist der beste Moment.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38528"/>
            <a:ext cx="10469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563EB"/>
                </a:solidFill>
                <a:latin typeface="Arial"/>
              </a:rPr>
              <a:t>Während eure Websites bauen, schauen wir kurz, was hängen geblieben ist.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31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Geschafft – und jetzt?</a:t>
            </a:r>
          </a:p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A1A1AA"/>
                </a:solidFill>
                <a:latin typeface="Arial"/>
              </a:rPr>
              <a:t>Eure Websites sind fertig oder gerade noch am Bauen — und ihr wisst jetzt, wie es geht.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68680" y="3200400"/>
            <a:ext cx="10469879" cy="0"/>
          </a:xfrm>
          <a:prstGeom prst="line">
            <a:avLst/>
          </a:prstGeom>
          <a:ln w="12700">
            <a:solidFill>
              <a:srgbClr val="3F3F46"/>
            </a:solidFill>
          </a:ln>
          <a:effectLst/>
        </p:spPr>
      </p:cxnSp>
      <p:sp>
        <p:nvSpPr>
          <p:cNvPr id="5" name="Oval 4"/>
          <p:cNvSpPr/>
          <p:nvPr/>
        </p:nvSpPr>
        <p:spPr>
          <a:xfrm>
            <a:off x="868680" y="3474720"/>
            <a:ext cx="548640" cy="548640"/>
          </a:xfrm>
          <a:prstGeom prst="ellipse">
            <a:avLst/>
          </a:prstGeom>
          <a:noFill/>
          <a:ln w="16510">
            <a:solidFill>
              <a:srgbClr val="A1A1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44728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3438144"/>
            <a:ext cx="9418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Zeigt euch eure Ergebnisse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1A1AA"/>
                </a:solidFill>
                <a:latin typeface="Arial"/>
              </a:rPr>
              <a:t>Fertig oder in Arbeit — kurz herumgehen, Ideen holen.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" y="4434840"/>
            <a:ext cx="10469879" cy="0"/>
          </a:xfrm>
          <a:prstGeom prst="line">
            <a:avLst/>
          </a:prstGeom>
          <a:ln w="12700">
            <a:solidFill>
              <a:srgbClr val="3F3F46"/>
            </a:solidFill>
          </a:ln>
          <a:effectLst/>
        </p:spPr>
      </p:cxnSp>
      <p:sp>
        <p:nvSpPr>
          <p:cNvPr id="9" name="Oval 8"/>
          <p:cNvSpPr/>
          <p:nvPr/>
        </p:nvSpPr>
        <p:spPr>
          <a:xfrm>
            <a:off x="868680" y="4709159"/>
            <a:ext cx="548640" cy="548640"/>
          </a:xfrm>
          <a:prstGeom prst="ellipse">
            <a:avLst/>
          </a:prstGeom>
          <a:noFill/>
          <a:ln w="16510">
            <a:solidFill>
              <a:srgbClr val="A1A1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81727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4672583"/>
            <a:ext cx="9418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Teilt euren Link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1A1AA"/>
                </a:solidFill>
                <a:latin typeface="Arial"/>
              </a:rPr>
              <a:t>Vorschau-Link in den WhatsApp-Gruppenchat posten.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5669279"/>
            <a:ext cx="10469879" cy="0"/>
          </a:xfrm>
          <a:prstGeom prst="line">
            <a:avLst/>
          </a:prstGeom>
          <a:ln w="12700">
            <a:solidFill>
              <a:srgbClr val="3F3F46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868680" y="5897879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1">
                <a:solidFill>
                  <a:srgbClr val="A1A1AA"/>
                </a:solidFill>
                <a:latin typeface="Arial"/>
              </a:rPr>
              <a:t>Danke fürs Mitmachen.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